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TRANSFORMATION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26974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Plus Account Onboarding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NorthStar Bank opens new accounts faster and more consistently—with identity checks, screening, and compliance built into every application.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 |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Opening an Everyday Plus Account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customer applies for NorthStar Bank's Everyday Plus everyday-banking account entirely online. The system automatically verifies identity, validates address, and screens against regulatory watchlists—bringing in a human reviewer only when a case genuinely needs judgement.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7F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331720"/>
            <a:ext cx="5257800" cy="594360"/>
          </a:xfrm>
          <a:prstGeom prst="roundRect">
            <a:avLst>
              <a:gd name="adj" fmla="val 12308"/>
            </a:avLst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651760"/>
            <a:ext cx="525780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3172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Customer Does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45262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in personal details online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and gives consent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proof of identity and address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details if the system asks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confirmation the account is open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89320" y="2331720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7FC"/>
          </a:solidFill>
          <a:ln/>
        </p:spPr>
      </p:sp>
      <p:sp>
        <p:nvSpPr>
          <p:cNvPr id="11" name="Shape 9"/>
          <p:cNvSpPr/>
          <p:nvPr/>
        </p:nvSpPr>
        <p:spPr>
          <a:xfrm>
            <a:off x="5989320" y="2331720"/>
            <a:ext cx="525780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5989320" y="2651760"/>
            <a:ext cx="525780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233172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Automatically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3200400"/>
            <a:ext cx="45262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documents are verified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is validated against evidence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and PEP screening is run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Existing-customer duplicate check is run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and account are created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 Bank  |  Everyday Plus Onboarding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JOURNEY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Application to Account—in One Sitting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468880"/>
            <a:ext cx="1143000" cy="114300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46888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7160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Online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600200" y="3040380"/>
            <a:ext cx="883310" cy="0"/>
          </a:xfrm>
          <a:prstGeom prst="line">
            <a:avLst/>
          </a:prstGeom>
          <a:noFill/>
          <a:ln w="25400">
            <a:solidFill>
              <a:srgbClr val="D7DCE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83510" y="2468880"/>
            <a:ext cx="1143000" cy="114300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83510" y="246888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163470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Details &amp; Consent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26510" y="3040380"/>
            <a:ext cx="883310" cy="0"/>
          </a:xfrm>
          <a:prstGeom prst="line">
            <a:avLst/>
          </a:prstGeom>
          <a:noFill/>
          <a:ln w="25400">
            <a:solidFill>
              <a:srgbClr val="D7DCE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09821" y="2468880"/>
            <a:ext cx="1143000" cy="114300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9821" y="246888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189781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ID &amp; Address Docs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52821" y="3040380"/>
            <a:ext cx="883310" cy="0"/>
          </a:xfrm>
          <a:prstGeom prst="line">
            <a:avLst/>
          </a:prstGeom>
          <a:noFill/>
          <a:ln w="25400">
            <a:solidFill>
              <a:srgbClr val="D7DCE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536131" y="2468880"/>
            <a:ext cx="1143000" cy="114300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6131" y="246888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216091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Verification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79131" y="3040380"/>
            <a:ext cx="883310" cy="0"/>
          </a:xfrm>
          <a:prstGeom prst="line">
            <a:avLst/>
          </a:prstGeom>
          <a:noFill/>
          <a:ln w="25400">
            <a:solidFill>
              <a:srgbClr val="D7DCE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62442" y="2468880"/>
            <a:ext cx="1143000" cy="1143000"/>
          </a:xfrm>
          <a:prstGeom prst="ellipse">
            <a:avLst/>
          </a:prstGeom>
          <a:solidFill>
            <a:srgbClr val="C9922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62442" y="246888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242402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(&amp; Review if Needed)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705442" y="3040380"/>
            <a:ext cx="883310" cy="0"/>
          </a:xfrm>
          <a:prstGeom prst="line">
            <a:avLst/>
          </a:prstGeom>
          <a:noFill/>
          <a:ln w="25400">
            <a:solidFill>
              <a:srgbClr val="D7DCE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588752" y="2468880"/>
            <a:ext cx="1143000" cy="114300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88752" y="246888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0268712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Ready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53949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applications complete automatically. A small number are flagged for a quick compliance review before the account is opened.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 Bank  |  Everyday Plus Onboarding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Process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619756" y="1024128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2729484" y="1078992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729484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14116" y="1024128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starts the Everyday Plus application online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94476" y="1481328"/>
            <a:ext cx="0" cy="10972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19756" y="1591056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2729484" y="164592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2729484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14116" y="1591056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opens a case with the decisioning engine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94476" y="2048256"/>
            <a:ext cx="0" cy="10972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619756" y="2157984"/>
            <a:ext cx="694944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2729484" y="2258568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2729484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14116" y="2157984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completes details, gives consent, and uploads ID &amp; address documents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94476" y="2706624"/>
            <a:ext cx="0" cy="10972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619756" y="2816352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2729484" y="2871216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2729484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14116" y="2816352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automatically verifies identity and validates the address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94476" y="3273552"/>
            <a:ext cx="0" cy="10972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619756" y="3383280"/>
            <a:ext cx="694944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2729484" y="3483864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2729484" y="3483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14116" y="3383280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automatically screens for sanctions &amp; PEP matches, and checks for duplicate customers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094476" y="3931920"/>
            <a:ext cx="0" cy="10972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265676" y="4041648"/>
            <a:ext cx="3657600" cy="502920"/>
          </a:xfrm>
          <a:prstGeom prst="diamond">
            <a:avLst/>
          </a:prstGeom>
          <a:solidFill>
            <a:srgbClr val="F3E6CC"/>
          </a:solidFill>
          <a:ln w="19050">
            <a:solidFill>
              <a:srgbClr val="C992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65676" y="40416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check flagged for review?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 flipH="1">
            <a:off x="2537460" y="4544568"/>
            <a:ext cx="1728216" cy="20116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923276" y="4544568"/>
            <a:ext cx="1728216" cy="20116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1531620" y="45628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834372" y="45628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14400" y="4745736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1051560" y="474573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path: processing continues automatically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028432" y="4745736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C9922B"/>
          </a:solidFill>
          <a:ln/>
        </p:spPr>
      </p:sp>
      <p:sp>
        <p:nvSpPr>
          <p:cNvPr id="38" name="Text 36"/>
          <p:cNvSpPr/>
          <p:nvPr/>
        </p:nvSpPr>
        <p:spPr>
          <a:xfrm>
            <a:off x="8165592" y="474573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path: compliance reviewer confirms and clears the case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537460" y="5248656"/>
            <a:ext cx="2093976" cy="20116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H="1">
            <a:off x="7557516" y="5248656"/>
            <a:ext cx="2093976" cy="20116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2619756" y="5449824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42" name="Shape 40"/>
          <p:cNvSpPr/>
          <p:nvPr/>
        </p:nvSpPr>
        <p:spPr>
          <a:xfrm>
            <a:off x="2729484" y="5504688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2729484" y="5504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214116" y="5449824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&amp; customer are created — the customer sees confirmation online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2345436" y="6153912"/>
            <a:ext cx="164592" cy="1645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6" name="Text 44"/>
          <p:cNvSpPr/>
          <p:nvPr/>
        </p:nvSpPr>
        <p:spPr>
          <a:xfrm>
            <a:off x="2583180" y="61264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action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60036" y="6153912"/>
            <a:ext cx="164592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8" name="Text 46"/>
          <p:cNvSpPr/>
          <p:nvPr/>
        </p:nvSpPr>
        <p:spPr>
          <a:xfrm>
            <a:off x="5097780" y="61264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(system)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374636" y="6153912"/>
            <a:ext cx="164592" cy="164592"/>
          </a:xfrm>
          <a:prstGeom prst="rect">
            <a:avLst/>
          </a:prstGeom>
          <a:solidFill>
            <a:srgbClr val="C9922B"/>
          </a:solidFill>
          <a:ln/>
        </p:spPr>
      </p:sp>
      <p:sp>
        <p:nvSpPr>
          <p:cNvPr id="50" name="Text 48"/>
          <p:cNvSpPr/>
          <p:nvPr/>
        </p:nvSpPr>
        <p:spPr>
          <a:xfrm>
            <a:off x="7612380" y="61264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action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 Bank  |  Everyday Plus Onboarding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Integration Map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722876" y="868680"/>
            <a:ext cx="2743200" cy="365760"/>
          </a:xfrm>
          <a:prstGeom prst="roundRect">
            <a:avLst>
              <a:gd name="adj" fmla="val 15000"/>
            </a:avLst>
          </a:prstGeom>
          <a:solidFill>
            <a:srgbClr val="F5F7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22876" y="868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Browser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094476" y="1234440"/>
            <a:ext cx="0" cy="118872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" y="1353312"/>
            <a:ext cx="66751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426464"/>
            <a:ext cx="6345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 BANK WEBSITE  •  NEXT.JS  •  AWS AMPLIFY (LAMBDA SSR)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" y="1719072"/>
            <a:ext cx="6345936" cy="603504"/>
          </a:xfrm>
          <a:prstGeom prst="roundRect">
            <a:avLst>
              <a:gd name="adj" fmla="val 7576"/>
            </a:avLst>
          </a:prstGeom>
          <a:solidFill>
            <a:srgbClr val="F5F7FC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17739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Experience + Backend-for-Frontend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86384" y="2048256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/api/onboarding/*, /api/demo/*  —  session-authenticated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" y="2395728"/>
            <a:ext cx="6345936" cy="603504"/>
          </a:xfrm>
          <a:prstGeom prst="roundRect">
            <a:avLst>
              <a:gd name="adj" fmla="val 7576"/>
            </a:avLst>
          </a:prstGeom>
          <a:solidFill>
            <a:srgbClr val="EAF3F6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4505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Service Layer — 9 Deterministic Capabilities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86384" y="2724912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• Verification • Screening • Fulfilment (in-process)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52360" y="1353312"/>
            <a:ext cx="4279392" cy="3127248"/>
          </a:xfrm>
          <a:prstGeom prst="roundRect">
            <a:avLst>
              <a:gd name="adj" fmla="val 1754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26680" y="1554480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PEGA PLATFORM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26680" y="1947672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API v2 — Case Management, Business Rules &amp; Decisioning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26680" y="249631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type: Customer Onboarding (Unified)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26680" y="277063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 bv-infax-261.pegademo.com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26680" y="3182112"/>
            <a:ext cx="3730752" cy="0"/>
          </a:xfrm>
          <a:prstGeom prst="line">
            <a:avLst/>
          </a:prstGeom>
          <a:noFill/>
          <a:ln w="12700">
            <a:solidFill>
              <a:srgbClr val="3E4A8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6680" y="3364992"/>
            <a:ext cx="3730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alone decide routing — every tool call returns evidence only.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32320" y="1856232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150608" y="149961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 flipH="1">
            <a:off x="7132320" y="2724912"/>
            <a:ext cx="320040" cy="0"/>
          </a:xfrm>
          <a:prstGeom prst="line">
            <a:avLst/>
          </a:prstGeom>
          <a:noFill/>
          <a:ln w="25400">
            <a:solidFill>
              <a:srgbClr val="5B4B8A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150608" y="27980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531620" y="3090672"/>
            <a:ext cx="0" cy="42976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57200" y="352044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611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DynamoDB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3931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state &amp; idempotency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(single table, TTL)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863340" y="3090672"/>
            <a:ext cx="0" cy="42976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788920" y="352044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80360" y="3611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S3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880360" y="3931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document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binaries (IAM-scoped)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26480" y="3090672"/>
            <a:ext cx="0" cy="42976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120640" y="3520440"/>
            <a:ext cx="20116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521208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Banking (mocked)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12080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create-customer only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(idempotency required)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4681728"/>
            <a:ext cx="11274552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" y="4818888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Website → Pega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client-credentials; POST /cases, GET /cases/{id}, GET/PATCH /assignments/{id}/actions/{id}; headers x-correlation-id, x-idempotency-key, If-Match:&lt;eTag&gt;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Pega → Website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/api/services/{tool} for all 9 tools; GET/HEAD /api/internal/documents/{ref}; header x-service-api-key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09360" y="4818888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③④  Website ↔ AWS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(case state &amp; idempotency) and S3 (document binaries), accessed with least-privilege IAM via the AWS SDK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Core Banking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mocked today; only create-customer opens an account, and it is idempotency-guarded so a retry can never duplicate it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61264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carries a correlation ID for end-to-end tracing; document bytes are never sent to the browser or to Pega directly — only the website ever touches raw evidence.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 Bank  |  Everyday Plus Onboarding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Sequence — Creating &amp; Progressing a Case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88236" y="914400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979676" y="950976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979676" y="950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18588" y="914400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starts the application — the website establishes a session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94476" y="1298448"/>
            <a:ext cx="0" cy="73152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88236" y="1371600"/>
            <a:ext cx="8412480" cy="475488"/>
          </a:xfrm>
          <a:prstGeom prst="roundRect">
            <a:avLst>
              <a:gd name="adj" fmla="val 9615"/>
            </a:avLst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979676" y="1453896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979676" y="1453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18588" y="1371600"/>
            <a:ext cx="7699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obtains an OAuth2 client-credentials token from Pega, caches it, and reuses it for every call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94476" y="1847088"/>
            <a:ext cx="0" cy="73152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888236" y="1920240"/>
            <a:ext cx="8412480" cy="475488"/>
          </a:xfrm>
          <a:prstGeom prst="roundRect">
            <a:avLst>
              <a:gd name="adj" fmla="val 9615"/>
            </a:avLst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1979676" y="2002536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979676" y="2002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18588" y="1920240"/>
            <a:ext cx="7699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calls POST /cases to create the case — case type Customer Onboarding (Unified)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94476" y="2395728"/>
            <a:ext cx="0" cy="73152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888236" y="2468880"/>
            <a:ext cx="8412480" cy="566928"/>
          </a:xfrm>
          <a:prstGeom prst="roundRect">
            <a:avLst>
              <a:gd name="adj" fmla="val 8065"/>
            </a:avLst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1979676" y="2596896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979676" y="2596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418588" y="2468880"/>
            <a:ext cx="7699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submits details, consent &amp; documents; files land in S3, then the website calls PATCH .../actions/{id} with If-Match: &lt;eTag&gt;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94476" y="3035808"/>
            <a:ext cx="0" cy="73152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888236" y="3108960"/>
            <a:ext cx="8412480" cy="658368"/>
          </a:xfrm>
          <a:prstGeom prst="roundRect">
            <a:avLst>
              <a:gd name="adj" fmla="val 6944"/>
            </a:avLst>
          </a:prstGeom>
          <a:solidFill>
            <a:srgbClr val="5B4B8A"/>
          </a:solidFill>
          <a:ln/>
        </p:spPr>
      </p:sp>
      <p:sp>
        <p:nvSpPr>
          <p:cNvPr id="25" name="Shape 23"/>
          <p:cNvSpPr/>
          <p:nvPr/>
        </p:nvSpPr>
        <p:spPr>
          <a:xfrm>
            <a:off x="1979676" y="3282696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979676" y="3282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4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418588" y="3108960"/>
            <a:ext cx="7699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calls back into the website's tool layer — POST /api/services/{tool} — for extraction, verification &amp; screening (7 tools), each authenticated with x-service-api-key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094476" y="3767328"/>
            <a:ext cx="0" cy="73152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888236" y="3840480"/>
            <a:ext cx="8412480" cy="475488"/>
          </a:xfrm>
          <a:prstGeom prst="roundRect">
            <a:avLst>
              <a:gd name="adj" fmla="val 9615"/>
            </a:avLst>
          </a:prstGeom>
          <a:solidFill>
            <a:srgbClr val="5B4B8A"/>
          </a:solidFill>
          <a:ln/>
        </p:spPr>
      </p:sp>
      <p:sp>
        <p:nvSpPr>
          <p:cNvPr id="30" name="Shape 28"/>
          <p:cNvSpPr/>
          <p:nvPr/>
        </p:nvSpPr>
        <p:spPr>
          <a:xfrm>
            <a:off x="1979676" y="3922776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979676" y="3922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4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418588" y="3840480"/>
            <a:ext cx="7699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Pega's business rules evaluate the returned evidence and decide routing — tools never decide outcomes themselves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094476" y="4315968"/>
            <a:ext cx="0" cy="73152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888236" y="4389120"/>
            <a:ext cx="8412480" cy="438912"/>
          </a:xfrm>
          <a:prstGeom prst="roundRect">
            <a:avLst>
              <a:gd name="adj" fmla="val 10417"/>
            </a:avLst>
          </a:prstGeom>
          <a:solidFill>
            <a:srgbClr val="C9922B"/>
          </a:solidFill>
          <a:ln/>
        </p:spPr>
      </p:sp>
      <p:sp>
        <p:nvSpPr>
          <p:cNvPr id="35" name="Shape 33"/>
          <p:cNvSpPr/>
          <p:nvPr/>
        </p:nvSpPr>
        <p:spPr>
          <a:xfrm>
            <a:off x="1979676" y="445312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1979676" y="4453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418588" y="4389120"/>
            <a:ext cx="7699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check is flagged, a compliance reviewer resolves it inside Pega's own review queue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094476" y="4828032"/>
            <a:ext cx="0" cy="73152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888236" y="4901184"/>
            <a:ext cx="8412480" cy="548640"/>
          </a:xfrm>
          <a:prstGeom prst="roundRect">
            <a:avLst>
              <a:gd name="adj" fmla="val 8333"/>
            </a:avLst>
          </a:prstGeom>
          <a:solidFill>
            <a:srgbClr val="5B4B8A"/>
          </a:solidFill>
          <a:ln/>
        </p:spPr>
      </p:sp>
      <p:sp>
        <p:nvSpPr>
          <p:cNvPr id="40" name="Shape 38"/>
          <p:cNvSpPr/>
          <p:nvPr/>
        </p:nvSpPr>
        <p:spPr>
          <a:xfrm>
            <a:off x="1979676" y="5020056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1979676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4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2418588" y="4901184"/>
            <a:ext cx="7699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calls POST /api/services/create-customer with a required x-idempotency-key — the account opens exactly once, even on retry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094476" y="5449824"/>
            <a:ext cx="0" cy="73152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888236" y="5522976"/>
            <a:ext cx="8412480" cy="475488"/>
          </a:xfrm>
          <a:prstGeom prst="roundRect">
            <a:avLst>
              <a:gd name="adj" fmla="val 9615"/>
            </a:avLst>
          </a:prstGeom>
          <a:solidFill>
            <a:srgbClr val="1C7293"/>
          </a:solidFill>
          <a:ln/>
        </p:spPr>
      </p:sp>
      <p:sp>
        <p:nvSpPr>
          <p:cNvPr id="45" name="Shape 43"/>
          <p:cNvSpPr/>
          <p:nvPr/>
        </p:nvSpPr>
        <p:spPr>
          <a:xfrm>
            <a:off x="1979676" y="560527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1979676" y="5605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2418588" y="5522976"/>
            <a:ext cx="7699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reads GET /cases/{caseId}, maps the stage to a customer-safe status, and the browser displays it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1979676" y="6227064"/>
            <a:ext cx="164592" cy="1645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9" name="Text 47"/>
          <p:cNvSpPr/>
          <p:nvPr/>
        </p:nvSpPr>
        <p:spPr>
          <a:xfrm>
            <a:off x="2217420" y="61996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browser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082796" y="6227064"/>
            <a:ext cx="164592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1" name="Text 49"/>
          <p:cNvSpPr/>
          <p:nvPr/>
        </p:nvSpPr>
        <p:spPr>
          <a:xfrm>
            <a:off x="4320540" y="61996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185916" y="6227064"/>
            <a:ext cx="164592" cy="164592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53" name="Text 51"/>
          <p:cNvSpPr/>
          <p:nvPr/>
        </p:nvSpPr>
        <p:spPr>
          <a:xfrm>
            <a:off x="6423660" y="61996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289036" y="6227064"/>
            <a:ext cx="164592" cy="164592"/>
          </a:xfrm>
          <a:prstGeom prst="rect">
            <a:avLst/>
          </a:prstGeom>
          <a:solidFill>
            <a:srgbClr val="C9922B"/>
          </a:solidFill>
          <a:ln/>
        </p:spPr>
      </p:sp>
      <p:sp>
        <p:nvSpPr>
          <p:cNvPr id="55" name="Text 53"/>
          <p:cNvSpPr/>
          <p:nvPr/>
        </p:nvSpPr>
        <p:spPr>
          <a:xfrm>
            <a:off x="8526780" y="61996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 Bank  |  Everyday Plus Onboarding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CLARIFYING “AGENTS”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Agents: Current State &amp; Design Plan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F3E6CC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53312"/>
            <a:ext cx="457200" cy="457200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18872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6B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autonomous AI agents run in production today. The 9-tool service layer is deterministic and rule-based — agent orchestration is a Pega-side design proposal that has not been built yet.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F5F7FC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359152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59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53312" y="235915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Implemented Today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7240" y="2971800"/>
            <a:ext cx="4754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Service Layer — 9 deterministic, rule-based capabilities (not AI agents)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returns structured evidence only — e.g. a suggested classification or confidence score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screen-pep never self-clears a potential match — enforced in code, not policy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input always produces identical output, so results are repeatable and testable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10312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EDEAF5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2359152"/>
            <a:ext cx="438912" cy="438912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359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22592" y="235915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5B4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— Bounded Agents (Design Stage)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46520" y="2971800"/>
            <a:ext cx="4754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Agent — guides intake sequencing and picks the next structured action</a:t>
            </a:r>
            <a:endParaRPr lang="en-US" sz="108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Agent — compares extracted vs. entered values and classifies mismatches</a:t>
            </a:r>
            <a:endParaRPr lang="en-US" sz="108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Agent — orchestrates identity, address, sanctions, PEP &amp; duplicate checks</a:t>
            </a:r>
            <a:endParaRPr lang="en-US" sz="108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Summary Agent — prepares neutral, evidence-backed summaries for reviewers</a:t>
            </a:r>
            <a:endParaRPr lang="en-US" sz="108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Agent — drafts completion messages from approved templates only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457200" y="553212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62356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“Bounded assistants under rule control — not autonomous decision makers.”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22960" y="596188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low-confidence match must never be auto-cleared by agent judgment alone — Pega implementation design brief.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 Bank  |  Everyday Plus Onboarding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2026-08-03T11:23:22Z</dcterms:created>
  <dcterms:modified xsi:type="dcterms:W3CDTF">2026-08-03T11:23:22Z</dcterms:modified>
</cp:coreProperties>
</file>