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TRANSFORMATION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Plus Account Onboarding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NorthStar Bank opens new accounts faster and more consistently—with identity checks, screening, and compliance built into every application.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an Everyday Plus Account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customer applies for NorthStar Bank's Everyday Plus everyday-banking account entirely online. The system automatically verifies identity, validates address, and screens against regulatory watchlists—bringing in a human reviewer only when a case genuinely needs judgement.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33172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51760"/>
            <a:ext cx="52578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Customer Does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526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personal details online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gives consent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proof of identity and address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details if the system asks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confirmation the account is open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233172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0" y="233172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5989320" y="2651760"/>
            <a:ext cx="52578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331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Automatically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4526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documents are verified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is validated against evidence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and PEP screening is run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Existing-customer duplicate check is run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account are created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Application to Account—in One Sitting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00200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83510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3510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6347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&amp; Consent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26510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09821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9821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89781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ID &amp; Address Docs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52821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36131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6131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6091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Verification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79131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62442" y="2468880"/>
            <a:ext cx="1143000" cy="1143000"/>
          </a:xfrm>
          <a:prstGeom prst="ellipse">
            <a:avLst/>
          </a:prstGeom>
          <a:solidFill>
            <a:srgbClr val="C9922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2442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42402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(&amp; Review if Needed)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05442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88752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88752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268712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Ready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applications complete automatically. A small number are flagged for a quick compliance review before the account is opened.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19756" y="1024128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2729484" y="107899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29484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14116" y="102412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starts the Everyday Plus application online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4476" y="1481328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19756" y="1591056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2729484" y="164592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29484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14116" y="159105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opens a case with the decisioning engine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4476" y="2048256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19756" y="2157984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729484" y="22585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29484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14116" y="215798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completes details, gives consent, and uploads ID &amp; address documents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4476" y="2706624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19756" y="2816352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2729484" y="287121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29484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14116" y="281635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automatically verifies identity and validates the address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94476" y="3273552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19756" y="338328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2729484" y="348386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29484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14116" y="338328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automatically screens for sanctions &amp; PEP matches, and checks for duplicate customers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94476" y="3931920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65676" y="4041648"/>
            <a:ext cx="3657600" cy="502920"/>
          </a:xfrm>
          <a:prstGeom prst="diamond">
            <a:avLst/>
          </a:prstGeom>
          <a:solidFill>
            <a:srgbClr val="F3E6CC"/>
          </a:solidFill>
          <a:ln w="19050">
            <a:solidFill>
              <a:srgbClr val="C992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65676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flagged for review?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 flipH="1">
            <a:off x="2537460" y="4544568"/>
            <a:ext cx="172821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923276" y="4544568"/>
            <a:ext cx="172821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53162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34372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474573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47457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path: processing continues automatically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28432" y="474573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C9922B"/>
          </a:solidFill>
          <a:ln/>
        </p:spPr>
      </p:sp>
      <p:sp>
        <p:nvSpPr>
          <p:cNvPr id="38" name="Text 36"/>
          <p:cNvSpPr/>
          <p:nvPr/>
        </p:nvSpPr>
        <p:spPr>
          <a:xfrm>
            <a:off x="8165592" y="47457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path: compliance reviewer confirms and clears the case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37460" y="5248656"/>
            <a:ext cx="209397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H="1">
            <a:off x="7557516" y="5248656"/>
            <a:ext cx="209397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619756" y="544982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2729484" y="550468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2729484" y="5504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214116" y="544982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customer are created — the customer sees confirmation online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345436" y="615391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25831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60036" y="6153912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0977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(system)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74636" y="6153912"/>
            <a:ext cx="164592" cy="16459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50" name="Text 48"/>
          <p:cNvSpPr/>
          <p:nvPr/>
        </p:nvSpPr>
        <p:spPr>
          <a:xfrm>
            <a:off x="76123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Integration Map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22876" y="86868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2876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Browser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4476" y="1234440"/>
            <a:ext cx="0" cy="11887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1353312"/>
            <a:ext cx="6675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26464"/>
            <a:ext cx="6345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WEBSITE  •  NEXT.JS  •  AWS AMPLIFY (LAMBDA SSR)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719072"/>
            <a:ext cx="6345936" cy="603504"/>
          </a:xfrm>
          <a:prstGeom prst="roundRect">
            <a:avLst>
              <a:gd name="adj" fmla="val 7576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7739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 + Backend-for-Frontend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6384" y="204825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/api/onboarding/*, /api/demo/*  —  session-authenticated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2395728"/>
            <a:ext cx="6345936" cy="603504"/>
          </a:xfrm>
          <a:prstGeom prst="roundRect">
            <a:avLst>
              <a:gd name="adj" fmla="val 7576"/>
            </a:avLst>
          </a:prstGeom>
          <a:solidFill>
            <a:srgbClr val="EAF3F6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450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Service Layer — 9 Deterministic Capabilities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384" y="272491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• Verification • Screening • Fulfilment (in-process)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52360" y="1353312"/>
            <a:ext cx="4279392" cy="3127248"/>
          </a:xfrm>
          <a:prstGeom prst="roundRect">
            <a:avLst>
              <a:gd name="adj" fmla="val 175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155448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PEGA PLATFORM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26680" y="1947672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API v2 — Case Management, Business Rules &amp; Decisioning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26680" y="24963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type: Customer Onboarding (Unified)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26680" y="27706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bv-infax-261.pegademo.com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3182112"/>
            <a:ext cx="3730752" cy="0"/>
          </a:xfrm>
          <a:prstGeom prst="line">
            <a:avLst/>
          </a:prstGeom>
          <a:noFill/>
          <a:ln w="12700">
            <a:solidFill>
              <a:srgbClr val="3E4A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3364992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alone decide routing — every tool call returns evidence only.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856232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150608" y="14996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flipH="1">
            <a:off x="7132320" y="2724912"/>
            <a:ext cx="320040" cy="0"/>
          </a:xfrm>
          <a:prstGeom prst="line">
            <a:avLst/>
          </a:prstGeom>
          <a:noFill/>
          <a:ln w="25400">
            <a:solidFill>
              <a:srgbClr val="5B4B8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150608" y="27980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31620" y="3090672"/>
            <a:ext cx="0" cy="4297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352044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DynamoDB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 &amp; idempotency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table, TTL)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63340" y="3090672"/>
            <a:ext cx="0" cy="4297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788920" y="352044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document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binaries (IAM-scoped)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3090672"/>
            <a:ext cx="0" cy="4297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120640" y="352044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2120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Banking (mocked)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create-customer only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(idempotency required)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681728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81888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Website → Pega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client-credentials; POST /cases, GET /cases/{id}, GET/PATCH /assignments/{id}/actions/{id}; headers x-correlation-id, x-idempotency-key, If-Match:&lt;eTag&gt;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Pega → Website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/api/services/{tool} for all 9 tools; GET/HEAD /api/internal/documents/{ref}; header x-service-api-key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481888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③④  Website ↔ AWS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(case state &amp; idempotency) and S3 (document binaries), accessed with least-privilege IAM via the AWS SDK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Core Banking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today; only create-customer opens an account, and it is idempotency-guarded so a retry can never duplicate it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carries a correlation ID for end-to-end tracing; document bytes are never sent to the browser or to Pega directly — only the website ever touches raw evidence.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Sequence — Creating &amp; Progressing a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88236" y="91440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979676" y="95097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979676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18588" y="914400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starts the application — the website establishes a session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94476" y="129844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88236" y="1371600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979676" y="14538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979676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18588" y="1371600"/>
            <a:ext cx="7699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obtains an OAuth2 client-credentials token from Pega, caches it, and reuses it for every call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4476" y="184708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88236" y="1920240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1979676" y="200253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979676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18588" y="1920240"/>
            <a:ext cx="7699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calls POST /cases to create the case — case type Customer Onboarding (Unified)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94476" y="239572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88236" y="2468880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79676" y="25968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979676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18588" y="2468880"/>
            <a:ext cx="7699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details, consent &amp; documents; files land in S3, then the website calls PATCH .../actions/{id} with If-Match: &lt;eTag&gt;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4476" y="303580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888236" y="3108960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5B4B8A"/>
          </a:solidFill>
          <a:ln/>
        </p:spPr>
      </p:sp>
      <p:sp>
        <p:nvSpPr>
          <p:cNvPr id="25" name="Shape 23"/>
          <p:cNvSpPr/>
          <p:nvPr/>
        </p:nvSpPr>
        <p:spPr>
          <a:xfrm>
            <a:off x="1979676" y="32826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979676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18588" y="3108960"/>
            <a:ext cx="7699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calls back into the website's tool layer — POST /api/services/{tool} — for extraction, verification &amp; screening (7 tools), each authenticated with x-service-api-key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94476" y="376732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888236" y="3840480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5B4B8A"/>
          </a:solidFill>
          <a:ln/>
        </p:spPr>
      </p:sp>
      <p:sp>
        <p:nvSpPr>
          <p:cNvPr id="30" name="Shape 28"/>
          <p:cNvSpPr/>
          <p:nvPr/>
        </p:nvSpPr>
        <p:spPr>
          <a:xfrm>
            <a:off x="1979676" y="392277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979676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18588" y="3840480"/>
            <a:ext cx="7699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Pega's business rules evaluate the returned evidence and decide routing — tools never decide outcomes themselves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94476" y="4315968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88236" y="438912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C992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979676" y="445312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979676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418588" y="4389120"/>
            <a:ext cx="7699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is flagged, a compliance reviewer resolves it inside Pega's own review queue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94476" y="4828032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888236" y="4901184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5B4B8A"/>
          </a:solidFill>
          <a:ln/>
        </p:spPr>
      </p:sp>
      <p:sp>
        <p:nvSpPr>
          <p:cNvPr id="40" name="Shape 38"/>
          <p:cNvSpPr/>
          <p:nvPr/>
        </p:nvSpPr>
        <p:spPr>
          <a:xfrm>
            <a:off x="1979676" y="502005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979676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418588" y="4901184"/>
            <a:ext cx="7699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calls POST /api/services/create-customer with a required x-idempotency-key — the account opens exactly once, even on retry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094476" y="5449824"/>
            <a:ext cx="0" cy="731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888236" y="5522976"/>
            <a:ext cx="8412480" cy="475488"/>
          </a:xfrm>
          <a:prstGeom prst="roundRect">
            <a:avLst>
              <a:gd name="adj" fmla="val 9615"/>
            </a:avLst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1979676" y="560527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979676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418588" y="5522976"/>
            <a:ext cx="7699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reads GET /cases/{caseId}, maps the stage to a customer-safe status, and the browser displays it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979676" y="6227064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Text 47"/>
          <p:cNvSpPr/>
          <p:nvPr/>
        </p:nvSpPr>
        <p:spPr>
          <a:xfrm>
            <a:off x="2217420" y="6199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browser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082796" y="6227064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4320540" y="6199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85916" y="6227064"/>
            <a:ext cx="164592" cy="164592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53" name="Text 51"/>
          <p:cNvSpPr/>
          <p:nvPr/>
        </p:nvSpPr>
        <p:spPr>
          <a:xfrm>
            <a:off x="6423660" y="6199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89036" y="6227064"/>
            <a:ext cx="164592" cy="16459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55" name="Text 53"/>
          <p:cNvSpPr/>
          <p:nvPr/>
        </p:nvSpPr>
        <p:spPr>
          <a:xfrm>
            <a:off x="8526780" y="6199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Orchestration — How the Agents Interact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Design-stage orchestration pattern for the planned Pega-side agents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25296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5F7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25296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77440" y="1225296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487168" y="1225296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Pega Onboarding Case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225296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EDEAF5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31673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Agent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53128" y="16276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• Conversation • Delegation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37960" y="1225296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EDEAF5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131673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Agent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47688" y="16276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• Compare • Evidence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732520" y="1225296"/>
            <a:ext cx="2697480" cy="1645920"/>
          </a:xfrm>
          <a:prstGeom prst="roundRect">
            <a:avLst>
              <a:gd name="adj" fmla="val 3333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42248" y="1316736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Allowlisted MCP / API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48" y="1627632"/>
            <a:ext cx="2478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• Identity • Screening • Core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37960" y="2139696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EDEAF5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223113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Agent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47688" y="25420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• PEP • Sanctions • Duplicate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77440" y="3419856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2487168" y="3511296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Pega Decision Rules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87168" y="3822192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• Request Info • Refer • Stop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43400" y="3419856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EDEAF5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351129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Summary Agent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53128" y="382219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• Evidence • Recommended handling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37960" y="3419856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3E6CC"/>
          </a:solidFill>
          <a:ln w="12700">
            <a:solidFill>
              <a:srgbClr val="C992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351129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6B4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Reviewer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47688" y="382219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human decision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732520" y="3419856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42248" y="3511296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Customer / Core 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42248" y="3822192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 and account reference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43400" y="4562856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EDEAF5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465429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4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Agent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53128" y="49651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welcome message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58064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41B47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History and Agent Audit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828800" y="1389888"/>
            <a:ext cx="548640" cy="0"/>
          </a:xfrm>
          <a:prstGeom prst="line">
            <a:avLst/>
          </a:prstGeom>
          <a:noFill/>
          <a:ln w="17780">
            <a:solidFill>
              <a:srgbClr val="3D4457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737360" y="10424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respond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069080" y="1389888"/>
            <a:ext cx="274320" cy="0"/>
          </a:xfrm>
          <a:prstGeom prst="line">
            <a:avLst/>
          </a:prstGeom>
          <a:noFill/>
          <a:ln w="17780">
            <a:solidFill>
              <a:srgbClr val="3D4457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3931920" y="10424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63640" y="1389888"/>
            <a:ext cx="274320" cy="0"/>
          </a:xfrm>
          <a:prstGeom prst="line">
            <a:avLst/>
          </a:prstGeom>
          <a:noFill/>
          <a:ln w="17780">
            <a:solidFill>
              <a:srgbClr val="5B4B8A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6126480" y="10424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458200" y="1389888"/>
            <a:ext cx="274320" cy="0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321040" y="10424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1956816"/>
            <a:ext cx="0" cy="548640"/>
          </a:xfrm>
          <a:prstGeom prst="line">
            <a:avLst/>
          </a:prstGeom>
          <a:noFill/>
          <a:ln w="17780">
            <a:solidFill>
              <a:srgbClr val="5B4B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2505456"/>
            <a:ext cx="1691640" cy="0"/>
          </a:xfrm>
          <a:prstGeom prst="line">
            <a:avLst/>
          </a:prstGeom>
          <a:noFill/>
          <a:ln w="17780">
            <a:solidFill>
              <a:srgbClr val="5B4B8A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498348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458200" y="2505456"/>
            <a:ext cx="274320" cy="0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8321040" y="1965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715000" y="1956816"/>
            <a:ext cx="0" cy="1188720"/>
          </a:xfrm>
          <a:prstGeom prst="line">
            <a:avLst/>
          </a:prstGeom>
          <a:noFill/>
          <a:ln w="17780">
            <a:solidFill>
              <a:srgbClr val="5B4B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3749040" y="3145536"/>
            <a:ext cx="1965960" cy="0"/>
          </a:xfrm>
          <a:prstGeom prst="line">
            <a:avLst/>
          </a:prstGeom>
          <a:noFill/>
          <a:ln w="17780">
            <a:solidFill>
              <a:srgbClr val="5B4B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49040" y="3145536"/>
            <a:ext cx="0" cy="274320"/>
          </a:xfrm>
          <a:prstGeom prst="line">
            <a:avLst/>
          </a:prstGeom>
          <a:noFill/>
          <a:ln w="17780">
            <a:solidFill>
              <a:srgbClr val="5B4B8A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4069080" y="2907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findings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 flipV="1">
            <a:off x="2880360" y="1956816"/>
            <a:ext cx="0" cy="146304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069080" y="3639312"/>
            <a:ext cx="274320" cy="0"/>
          </a:xfrm>
          <a:prstGeom prst="line">
            <a:avLst/>
          </a:prstGeom>
          <a:noFill/>
          <a:ln w="17780">
            <a:solidFill>
              <a:srgbClr val="3D4457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3931920" y="32369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3639312"/>
            <a:ext cx="274320" cy="0"/>
          </a:xfrm>
          <a:prstGeom prst="line">
            <a:avLst/>
          </a:prstGeom>
          <a:noFill/>
          <a:ln w="17780">
            <a:solidFill>
              <a:srgbClr val="3D4457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5897880" y="32369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458200" y="3639312"/>
            <a:ext cx="274320" cy="0"/>
          </a:xfrm>
          <a:prstGeom prst="line">
            <a:avLst/>
          </a:prstGeom>
          <a:noFill/>
          <a:ln w="17780">
            <a:solidFill>
              <a:srgbClr val="C9922B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8092440" y="32369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178040" y="4288536"/>
            <a:ext cx="0" cy="137160"/>
          </a:xfrm>
          <a:prstGeom prst="line">
            <a:avLst/>
          </a:prstGeom>
          <a:noFill/>
          <a:ln w="17780">
            <a:solidFill>
              <a:srgbClr val="C992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3200400" y="4425696"/>
            <a:ext cx="3977640" cy="0"/>
          </a:xfrm>
          <a:prstGeom prst="line">
            <a:avLst/>
          </a:prstGeom>
          <a:noFill/>
          <a:ln w="17780">
            <a:solidFill>
              <a:srgbClr val="C9922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3200400" y="4288536"/>
            <a:ext cx="0" cy="137160"/>
          </a:xfrm>
          <a:prstGeom prst="line">
            <a:avLst/>
          </a:prstGeom>
          <a:noFill/>
          <a:ln w="17780">
            <a:solidFill>
              <a:srgbClr val="C9922B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4480560" y="4453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B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reason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 flipH="1">
            <a:off x="1938528" y="1481328"/>
            <a:ext cx="438912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38528" y="1481328"/>
            <a:ext cx="0" cy="3447288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38528" y="4928616"/>
            <a:ext cx="2404872" cy="0"/>
          </a:xfrm>
          <a:prstGeom prst="line">
            <a:avLst/>
          </a:prstGeom>
          <a:noFill/>
          <a:ln w="1778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042416" y="3374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 flipH="1">
            <a:off x="2103120" y="5184648"/>
            <a:ext cx="2240280" cy="0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2103120" y="1700784"/>
            <a:ext cx="0" cy="3483864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1828800" y="1700784"/>
            <a:ext cx="274320" cy="0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2340864" y="4306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 flipH="1">
            <a:off x="2267712" y="2002536"/>
            <a:ext cx="109728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2267712" y="2002536"/>
            <a:ext cx="0" cy="3803904"/>
          </a:xfrm>
          <a:prstGeom prst="line">
            <a:avLst/>
          </a:prstGeom>
          <a:noFill/>
          <a:ln w="1778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365760" y="1783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event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303520" y="5294376"/>
            <a:ext cx="0" cy="512064"/>
          </a:xfrm>
          <a:prstGeom prst="line">
            <a:avLst/>
          </a:prstGeom>
          <a:noFill/>
          <a:ln w="1778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2026-08-03T11:41:38Z</dcterms:created>
  <dcterms:modified xsi:type="dcterms:W3CDTF">2026-08-03T11:41:38Z</dcterms:modified>
</cp:coreProperties>
</file>